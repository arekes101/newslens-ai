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5.png"/><Relationship Id="rId6" Type="http://schemas.openxmlformats.org/officeDocument/2006/relationships/image" Target="../media/image-3-1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4338C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SOFTWARE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In Brief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News Intelligence Platform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66928" y="3977640"/>
            <a:ext cx="0" cy="1508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3320" y="408736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498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NUMBER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447141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[Registration Number]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82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485546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/ Software Project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2669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523951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[Faculty Name]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650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03320" y="56235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600760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644652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news platforms present articles individually, leaving readers to manually search, cross-reference, and interpret information across multiple sources. This creates information overload and limits quick, synthesized understanding of current events.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addresses this gap through an agentic AI approach. The platform ingests live news continuously from BBC RSS feeds, stores structured articles in a SQLite database, and allows users to browse by category or search directly.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natural-language queries, an AI agent plans the required actions, retrieves relevant stored articles as tool calls, constructs grounded context, and invokes a locally running Llama 3.2 model through Ollama to generate a traceable, evidence-based response.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design is expected to reduce manual effort, improve transparency of AI reasoning through visible plans and run metadata, and demonstrate sound software engineering and project management practice.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18120" y="1554480"/>
            <a:ext cx="3794760" cy="1033272"/>
          </a:xfrm>
          <a:prstGeom prst="roundRect">
            <a:avLst>
              <a:gd name="adj" fmla="val 8850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1645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0" y="21762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RSS INGESTION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18120" y="2724912"/>
            <a:ext cx="3794760" cy="1033272"/>
          </a:xfrm>
          <a:prstGeom prst="roundRect">
            <a:avLst>
              <a:gd name="adj" fmla="val 8850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28163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46720" y="33467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VIA OLLAMA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3895344"/>
            <a:ext cx="3794760" cy="1033272"/>
          </a:xfrm>
          <a:prstGeom prst="roundRect">
            <a:avLst>
              <a:gd name="adj" fmla="val 8850"/>
            </a:avLst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398678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46720" y="45171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TOOL EXECUTION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18120" y="5065776"/>
            <a:ext cx="3794760" cy="1033272"/>
          </a:xfrm>
          <a:prstGeom prst="roundRect">
            <a:avLst>
              <a:gd name="adj" fmla="val 8850"/>
            </a:avLst>
          </a:prstGeom>
          <a:solidFill>
            <a:srgbClr val="0B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515721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Traceable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46720" y="5687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IDS &amp; SOURCES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intelligent news retrieval matters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wib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056" y="1914936"/>
            <a:ext cx="230063" cy="2300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819656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news volume has grown far beyond what a reader can manually track across sources.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9" name="Image 1" descr="/home/claude/wib/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6" y="2692176"/>
            <a:ext cx="230063" cy="2300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596896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 makes it difficult to compare and synthesize coverage on a single topic.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42900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2" name="Image 2" descr="/home/claude/wib/icon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" y="3469416"/>
            <a:ext cx="230063" cy="2300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3374136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searching, opening, and reading multiple articles is slow and repetitive.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420624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5" name="Image 3" descr="/home/claude/wib/icon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6" y="4246656"/>
            <a:ext cx="230063" cy="2300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4151376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assistance that retrieves relevant articles and produces a grounded synthesis, not just a list of links.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46520" y="141732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0B1220"/>
          </a:solidFill>
          <a:ln/>
        </p:spPr>
      </p:sp>
      <p:sp>
        <p:nvSpPr>
          <p:cNvPr id="18" name="Text 12"/>
          <p:cNvSpPr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Software Engineering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766560" y="228600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0" name="Image 4" descr="/home/claude/wib/icon_pack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996" y="2345436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06640" y="2267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an engineered product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7406640" y="25328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through a defined process, not ad-hoc scripting.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766560" y="290779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4" name="Image 5" descr="/home/claude/wib/icon_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996" y="2967228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06640" y="28895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7406640" y="3154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browsing, search, and agentic Q&amp;A capture user needs.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766560" y="3529584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8" name="Image 6" descr="/home/claude/wib/icon_lay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5996" y="3589020"/>
            <a:ext cx="338328" cy="33832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06640" y="35112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7406640" y="37764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design: frontend, REST API, agent layer, storage.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6766560" y="4151376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2" name="Image 7" descr="/home/claude/wib/icon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5996" y="4210812"/>
            <a:ext cx="338328" cy="33832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406640" y="41330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34" name="Text 24"/>
          <p:cNvSpPr/>
          <p:nvPr/>
        </p:nvSpPr>
        <p:spPr>
          <a:xfrm>
            <a:off x="7406640" y="439826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smoke tests validate core functionality.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6766560" y="4773168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6" name="Image 8" descr="/home/claude/wib/icon_too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5996" y="4832604"/>
            <a:ext cx="338328" cy="33832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0664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38" name="Text 27"/>
          <p:cNvSpPr/>
          <p:nvPr/>
        </p:nvSpPr>
        <p:spPr>
          <a:xfrm>
            <a:off x="7406640" y="50200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structure supports future enhancement.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&amp; Drawbacks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News Aggregators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70662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5968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search only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27355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16382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manually compares articles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84048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7307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task planning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40740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297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contextual synthesis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97433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864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one-way interaction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554126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54315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traceability of results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1508760"/>
            <a:ext cx="5212080" cy="4709160"/>
          </a:xfrm>
          <a:prstGeom prst="roundRect">
            <a:avLst>
              <a:gd name="adj" fmla="val 1942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In Brief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0" y="2706624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647688" y="25968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agent queries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3273552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647688" y="316382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plans &amp; executes retrieval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3840480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647688" y="37307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constructed from live articles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4407408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647688" y="4297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synthesis via Llama 3.2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0" y="497433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647688" y="4864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conversational interface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0" y="5541264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647688" y="54315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plan, run ID &amp; sources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&amp; Research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46304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03704" y="1865376"/>
            <a:ext cx="256032" cy="123444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8882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98882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Planner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03704" y="2391156"/>
            <a:ext cx="256032" cy="123444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5146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51460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Retrieval Tool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03704" y="2916936"/>
            <a:ext cx="256032" cy="123444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4038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304038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RSS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03704" y="3442716"/>
            <a:ext cx="256032" cy="123444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56616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56616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03704" y="3968496"/>
            <a:ext cx="256032" cy="123444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09194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" y="409194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Construction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03704" y="4494276"/>
            <a:ext cx="256032" cy="123444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61772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6366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" y="461772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via Ollama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03704" y="5020056"/>
            <a:ext cx="256032" cy="123444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1435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6366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" y="514350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26280" y="1463040"/>
            <a:ext cx="7132320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6276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00600" y="1993392"/>
            <a:ext cx="6583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news aggregators focus primarily on delivering articles to the reader. They do not plan multi-step tasks, retrieve articles as explicit tool actions, or construct traceable context for an answer. The gap lies in agent-driven retrieval, contextual synthesis, and execution transparency.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26280" y="3977640"/>
            <a:ext cx="7132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4096512"/>
            <a:ext cx="82296" cy="475488"/>
          </a:xfrm>
          <a:prstGeom prst="roundRect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40507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4050792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articles; user does the synthesis.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26280" y="4818888"/>
            <a:ext cx="7132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4937760"/>
            <a:ext cx="82296" cy="475488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48920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48920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planning or traceable retrieval.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26280" y="5660136"/>
            <a:ext cx="7132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5779008"/>
            <a:ext cx="82296" cy="475488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57332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Contribution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0" y="573328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plans, retrieves, and grounds answers.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PROCESS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Engineering Process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iterative, Agile-style approach fits a project whose scope (AI agent behaviour, model prompting) is refined through repeated feedback rather than fixed upfront.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3383280" cy="3383280"/>
          </a:xfrm>
          <a:prstGeom prst="ellipse">
            <a:avLst/>
          </a:prstGeom>
          <a:ln w="25400">
            <a:solidFill>
              <a:srgbClr val="C7D2F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286000" y="24917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59152" y="249174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33951" y="3471084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7103" y="3471084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19080" y="505569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92232" y="5055696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452920" y="505569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26072" y="5055696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8049" y="3471084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6366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11201" y="3471084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60320" y="3657600"/>
            <a:ext cx="1005840" cy="100584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3657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0936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Development Plan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0" y="1847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news platform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33172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331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0" y="23500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BBC RSS integration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28346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834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28529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introduced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33756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337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3355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planning &amp; tool execution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384048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840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38587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 preparation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44348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572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Principles Applied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37960" y="4864608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Iterative development across capability layers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Continuous feedback informing next iteration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Incremental delivery of working functionality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Adaptability as agent design evolved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formal Extreme Programming practices (e.g., pair programming, on-site customer) were not implemented; the project follows general Agile/iterative principles only.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31720" y="137160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2532888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315968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97880" y="137160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099048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680960" y="1371600"/>
            <a:ext cx="146304" cy="146304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3" name="Text 11"/>
          <p:cNvSpPr/>
          <p:nvPr/>
        </p:nvSpPr>
        <p:spPr>
          <a:xfrm>
            <a:off x="7882128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464040" y="13716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65208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187452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187452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1801368"/>
            <a:ext cx="1188720" cy="54864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19" name="Shape 17"/>
          <p:cNvSpPr/>
          <p:nvPr/>
        </p:nvSpPr>
        <p:spPr>
          <a:xfrm>
            <a:off x="1792224" y="2016252"/>
            <a:ext cx="118872" cy="21945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1965960" y="18745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39112" y="18745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65960" y="1801368"/>
            <a:ext cx="1371600" cy="54864"/>
          </a:xfrm>
          <a:prstGeom prst="roundRect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2424" y="2016252"/>
            <a:ext cx="118872" cy="21945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6160" y="18745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39312" y="187452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1801368"/>
            <a:ext cx="1737360" cy="54864"/>
          </a:xfrm>
          <a:prstGeom prst="roundRect">
            <a:avLst/>
          </a:prstGeom>
          <a:solidFill>
            <a:srgbClr val="22D3EE"/>
          </a:solidFill>
          <a:ln/>
        </p:spPr>
      </p:sp>
      <p:sp>
        <p:nvSpPr>
          <p:cNvPr id="27" name="Shape 25"/>
          <p:cNvSpPr/>
          <p:nvPr/>
        </p:nvSpPr>
        <p:spPr>
          <a:xfrm>
            <a:off x="4306824" y="2404872"/>
            <a:ext cx="256032" cy="32004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2651760" y="27432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28163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3127248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07792" y="3127248"/>
            <a:ext cx="10881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33088" y="3127248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3127248"/>
            <a:ext cx="10881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Retrieval Tool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31536" y="3127248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3127248"/>
            <a:ext cx="10881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/ Synthesis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29984" y="3127248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127248"/>
            <a:ext cx="10881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06824" y="4187952"/>
            <a:ext cx="256032" cy="27432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39" name="Shape 37"/>
          <p:cNvSpPr/>
          <p:nvPr/>
        </p:nvSpPr>
        <p:spPr>
          <a:xfrm>
            <a:off x="2651760" y="47091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24912" y="4709160"/>
            <a:ext cx="2459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51760" y="4636008"/>
            <a:ext cx="2606040" cy="54864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42" name="Shape 40"/>
          <p:cNvSpPr/>
          <p:nvPr/>
        </p:nvSpPr>
        <p:spPr>
          <a:xfrm>
            <a:off x="5349240" y="4846320"/>
            <a:ext cx="502920" cy="21945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43" name="Shape 41"/>
          <p:cNvSpPr/>
          <p:nvPr/>
        </p:nvSpPr>
        <p:spPr>
          <a:xfrm>
            <a:off x="5943600" y="47091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16752" y="470916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RSS Feeds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4636008"/>
            <a:ext cx="2286000" cy="54864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46" name="Shape 44"/>
          <p:cNvSpPr/>
          <p:nvPr/>
        </p:nvSpPr>
        <p:spPr>
          <a:xfrm>
            <a:off x="3803904" y="4187952"/>
            <a:ext cx="256032" cy="27432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47" name="Shape 45"/>
          <p:cNvSpPr/>
          <p:nvPr/>
        </p:nvSpPr>
        <p:spPr>
          <a:xfrm>
            <a:off x="8549640" y="1737360"/>
            <a:ext cx="3108960" cy="4160520"/>
          </a:xfrm>
          <a:prstGeom prst="roundRect">
            <a:avLst>
              <a:gd name="adj" fmla="val 2941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32520" y="1874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PATH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732520" y="22402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05672" y="224028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Context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732520" y="2185416"/>
            <a:ext cx="2743200" cy="45720"/>
          </a:xfrm>
          <a:prstGeom prst="roundRect">
            <a:avLst/>
          </a:prstGeom>
          <a:solidFill>
            <a:srgbClr val="22D3EE"/>
          </a:solidFill>
          <a:ln/>
        </p:spPr>
      </p:sp>
      <p:sp>
        <p:nvSpPr>
          <p:cNvPr id="52" name="Shape 50"/>
          <p:cNvSpPr/>
          <p:nvPr/>
        </p:nvSpPr>
        <p:spPr>
          <a:xfrm>
            <a:off x="9976104" y="2715768"/>
            <a:ext cx="256032" cy="201168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53" name="Shape 51"/>
          <p:cNvSpPr/>
          <p:nvPr/>
        </p:nvSpPr>
        <p:spPr>
          <a:xfrm>
            <a:off x="8732520" y="2898648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05672" y="2898648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732520" y="2843784"/>
            <a:ext cx="2743200" cy="45720"/>
          </a:xfrm>
          <a:prstGeom prst="roundRect">
            <a:avLst/>
          </a:prstGeom>
          <a:solidFill>
            <a:srgbClr val="F472B6"/>
          </a:solidFill>
          <a:ln/>
        </p:spPr>
      </p:sp>
      <p:sp>
        <p:nvSpPr>
          <p:cNvPr id="56" name="Shape 54"/>
          <p:cNvSpPr/>
          <p:nvPr/>
        </p:nvSpPr>
        <p:spPr>
          <a:xfrm>
            <a:off x="9976104" y="3374136"/>
            <a:ext cx="256032" cy="201168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57" name="Shape 55"/>
          <p:cNvSpPr/>
          <p:nvPr/>
        </p:nvSpPr>
        <p:spPr>
          <a:xfrm>
            <a:off x="8732520" y="3557016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05672" y="3557016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732520" y="3502152"/>
            <a:ext cx="2743200" cy="45720"/>
          </a:xfrm>
          <a:prstGeom prst="roundRect">
            <a:avLst/>
          </a:prstGeom>
          <a:solidFill>
            <a:srgbClr val="F472B6"/>
          </a:solidFill>
          <a:ln/>
        </p:spPr>
      </p:sp>
      <p:sp>
        <p:nvSpPr>
          <p:cNvPr id="60" name="Shape 58"/>
          <p:cNvSpPr/>
          <p:nvPr/>
        </p:nvSpPr>
        <p:spPr>
          <a:xfrm>
            <a:off x="9976104" y="4032504"/>
            <a:ext cx="256032" cy="201168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61" name="Shape 59"/>
          <p:cNvSpPr/>
          <p:nvPr/>
        </p:nvSpPr>
        <p:spPr>
          <a:xfrm>
            <a:off x="8732520" y="4215384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05672" y="4215384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732520" y="4160520"/>
            <a:ext cx="2743200" cy="457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9976104" y="4690872"/>
            <a:ext cx="256032" cy="201168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65" name="Shape 63"/>
          <p:cNvSpPr/>
          <p:nvPr/>
        </p:nvSpPr>
        <p:spPr>
          <a:xfrm>
            <a:off x="8732520" y="4873752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05672" y="487375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732520" y="4818888"/>
            <a:ext cx="2743200" cy="45720"/>
          </a:xfrm>
          <a:prstGeom prst="roundRect">
            <a:avLst/>
          </a:prstGeom>
          <a:solidFill>
            <a:srgbClr val="22D3EE"/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Decomposition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41732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53712" y="141732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87452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187452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2103120"/>
            <a:ext cx="1920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210312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10312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3172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0" descr="/home/claude/wib/icon_r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625700"/>
            <a:ext cx="372161" cy="37216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3040" y="26060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News Intelligence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1089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BBC RSS ingestion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34107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 handling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371246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Article storage (SQLite)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40142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Search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8680" y="43159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News retrieval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233172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0B1220"/>
          </a:solidFill>
          <a:ln/>
        </p:spPr>
      </p:sp>
      <p:sp>
        <p:nvSpPr>
          <p:cNvPr id="21" name="Shape 18"/>
          <p:cNvSpPr/>
          <p:nvPr/>
        </p:nvSpPr>
        <p:spPr>
          <a:xfrm>
            <a:off x="6537960" y="256032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2" name="Image 1" descr="/home/claude/wib/icon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625700"/>
            <a:ext cx="372161" cy="37216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78040" y="2606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Agentic AI Intelligence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83680" y="31089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Natural-language query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583680" y="34107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Planner &amp; action selection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583680" y="37124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Context construction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583680" y="401421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Ollama / Llama 3.2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583680" y="43159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Grounded response + run ID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4864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Modules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548640" y="52578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58368" y="5367528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32" name="Image 2" descr="/home/claude/wib/icon_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5426964"/>
            <a:ext cx="338328" cy="33832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170432" y="5257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2761488" y="52578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2871216" y="5367528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36" name="Image 3" descr="/home/claude/wib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652" y="5426964"/>
            <a:ext cx="338328" cy="33832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383280" y="5257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4974336" y="52578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084064" y="5367528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40" name="Image 4" descr="/home/claude/wib/icon_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5426964"/>
            <a:ext cx="338328" cy="33832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596128" y="5257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7187184" y="52578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296912" y="5367528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44" name="Image 5" descr="/home/claude/wib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348" y="5426964"/>
            <a:ext cx="338328" cy="33832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808976" y="5257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9400032" y="52578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509760" y="5367528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48" name="Image 6" descr="/home/claude/wib/icon_packa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9196" y="5426964"/>
            <a:ext cx="338328" cy="33832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0021824" y="5257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50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Intelligence &amp; Retrieval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continuously ingest live BBC news, organize it by category, and make it searchable and retrievable — both for direct browsing and as grounding material for the AI agent.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383280" cy="3977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2331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7" name="Image 0" descr="/home/claude/wib/icon_r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3450" y="241493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BBC RSS feeds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396849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search query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04488" y="3936492"/>
            <a:ext cx="512064" cy="219456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2057400"/>
            <a:ext cx="3383280" cy="3977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33172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4" name="Image 1" descr="/home/claude/wib/icon_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930" y="2414930"/>
            <a:ext cx="473659" cy="473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63440" y="356616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RSS parsing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663440" y="396849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Article extraction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663440" y="437083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 assignment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663440" y="477316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SQLite storage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663440" y="517550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Search / filter / retrieval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744968" y="3936492"/>
            <a:ext cx="512064" cy="219456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2" name="Shape 18"/>
          <p:cNvSpPr/>
          <p:nvPr/>
        </p:nvSpPr>
        <p:spPr>
          <a:xfrm>
            <a:off x="8229600" y="2057400"/>
            <a:ext cx="3383280" cy="3977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601200" y="2331720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4" name="Image 2" descr="/home/claude/wib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410" y="2414930"/>
            <a:ext cx="473659" cy="47365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2960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503920" y="356616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Structured articles displayed to user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503920" y="396849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Articles supplied to AI agent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LIVE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Dashboard — Workflow &amp; Screenshot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50876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RSS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37944" y="1975104"/>
            <a:ext cx="256032" cy="12801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12264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112264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Parser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37944" y="2578608"/>
            <a:ext cx="256032" cy="12801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71576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715768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Object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837944" y="3182112"/>
            <a:ext cx="256032" cy="12801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319272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3319272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37944" y="3785616"/>
            <a:ext cx="256032" cy="12801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922776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922776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Retrieval API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837944" y="4389120"/>
            <a:ext cx="256032" cy="12801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52628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" y="452628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UI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article fields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Title · Description · Source · Published time · Search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49040" y="1417320"/>
            <a:ext cx="7909560" cy="4892040"/>
          </a:xfrm>
          <a:prstGeom prst="roundRect">
            <a:avLst>
              <a:gd name="adj" fmla="val 1495"/>
            </a:avLst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pic>
        <p:nvPicPr>
          <p:cNvPr id="24" name="Image 0" descr="/home/claude/wib/news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86200" y="1554480"/>
            <a:ext cx="7635240" cy="46177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749040" y="6199632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News Intelligence Feed — category filters, curated BBC stories, and source trust indicators.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News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gives a natural-language query. The agent determines which actions are required, retrieves relevant news, constructs context, and asks Llama 3.2 to produce a grounded answer.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4231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7" name="Image 0" descr="/home/claude/wib/icon_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970" y="250637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00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566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2148840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36592" y="2148840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93892" y="2519172"/>
            <a:ext cx="256032" cy="6858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2592324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6592" y="2592324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93892" y="2962656"/>
            <a:ext cx="256032" cy="6858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6" name="Shape 13"/>
          <p:cNvSpPr/>
          <p:nvPr/>
        </p:nvSpPr>
        <p:spPr>
          <a:xfrm>
            <a:off x="4663440" y="3035808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3035808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Selection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993892" y="3406140"/>
            <a:ext cx="256032" cy="6858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9" name="Shape 16"/>
          <p:cNvSpPr/>
          <p:nvPr/>
        </p:nvSpPr>
        <p:spPr>
          <a:xfrm>
            <a:off x="4663440" y="3479292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36592" y="3479292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Retrieval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93892" y="3849624"/>
            <a:ext cx="256032" cy="6858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22" name="Shape 19"/>
          <p:cNvSpPr/>
          <p:nvPr/>
        </p:nvSpPr>
        <p:spPr>
          <a:xfrm>
            <a:off x="4663440" y="3922776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3922776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Construction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993892" y="4293108"/>
            <a:ext cx="256032" cy="6858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25" name="Shape 22"/>
          <p:cNvSpPr/>
          <p:nvPr/>
        </p:nvSpPr>
        <p:spPr>
          <a:xfrm>
            <a:off x="4663440" y="4366260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36592" y="4366260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993892" y="4736592"/>
            <a:ext cx="256032" cy="6858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28" name="Shape 25"/>
          <p:cNvSpPr/>
          <p:nvPr/>
        </p:nvSpPr>
        <p:spPr>
          <a:xfrm>
            <a:off x="4663440" y="4809744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4809744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993892" y="5180076"/>
            <a:ext cx="256032" cy="6858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31" name="Shape 28"/>
          <p:cNvSpPr/>
          <p:nvPr/>
        </p:nvSpPr>
        <p:spPr>
          <a:xfrm>
            <a:off x="4663440" y="5253228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36592" y="5253228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006840" y="21945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966960" y="2423160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5" name="Image 1" descr="/home/claude/wib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170" y="2506370"/>
            <a:ext cx="473659" cy="473659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006840" y="3200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9189720" y="35661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answer,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articles, and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/ run information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LIVE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— Live Demonstration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4800600"/>
          </a:xfrm>
          <a:prstGeom prst="roundRect">
            <a:avLst>
              <a:gd name="adj" fmla="val 1524"/>
            </a:avLst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5000"/>
              </a:srgbClr>
            </a:outerShdw>
          </a:effectLst>
        </p:spPr>
      </p:sp>
      <p:pic>
        <p:nvPicPr>
          <p:cNvPr id="5" name="Image 0" descr="/home/claude/wib/agent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" y="1536192"/>
            <a:ext cx="6071616" cy="4562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9963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workspace: plan steps, sources retrieved, and grounded answer with a citation-backed summary.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086600" y="1417320"/>
            <a:ext cx="457200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1536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0" y="18105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latest technology news stories?”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22860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retrieve_news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27432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real BBC articles retrieved with an AI-generated grounded summary and article references.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86600" y="3886200"/>
            <a:ext cx="4572000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4005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0" y="4279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the latest technology and business news.”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0" y="475488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0" y="47548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retrieve_news → compare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0" y="5212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answer returned with a Run ID for traceability — evidence of agent planning rather than a simple chatbot reply.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PROJECT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Project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news 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854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News browsing / 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Agentic AI assistant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News retrieval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11810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synthesis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Local LLM execution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14173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18745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M1 – Basic news application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389120" y="21854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M2 – RSS integration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4389120" y="24963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M3 – Agent implementation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4389120" y="28072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M4 – LLM integration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389120" y="311810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M5 – Testing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4389120" y="3429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M6 – Documentation / deployment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772400" y="141732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01000" y="1874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Working application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Source code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2423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Database layer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01000" y="2697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system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01000" y="2971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01000" y="3246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 suite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01000" y="3520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Deployment configuration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Structure (WBS)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27939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46120" y="427939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UI development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460857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Backend / API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46120" y="460857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RSS integration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93776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Database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493776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Agent implementation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2669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Ollama integration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46120" y="52669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Testing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559612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Documentation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46120" y="559612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Deployment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63640" y="39319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Estimation Note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492240" y="4389120"/>
            <a:ext cx="4892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resources, cost, and time-scale for this academic project are scoped to a single-developer / small-team effort delivered across the iterations above. Formal cost-estimation models (e.g., COCOMO) were studied as Module 2 concepts but not formally applied, since project size did not warrant them.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 |  Agentic AI News Intelligence Platform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RMMM PLAN &amp; 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384048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4877" y="1417320"/>
            <a:ext cx="350032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949440" cy="530352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01368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unavailable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14877" y="1801368"/>
            <a:ext cx="350032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response / availability check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949440" cy="53035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31720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feed unavailable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4877" y="2331720"/>
            <a:ext cx="350032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articles / fallback mechanism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2862072"/>
            <a:ext cx="6949440" cy="530352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62072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14877" y="2862072"/>
            <a:ext cx="350032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responses using retrieved articles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6949440" cy="53035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92424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failure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14877" y="3392424"/>
            <a:ext cx="350032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controlled database access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6949440" cy="530352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22776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response latency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14877" y="3922776"/>
            <a:ext cx="350032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optimization / concise prompts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48640" y="4453128"/>
            <a:ext cx="6949440" cy="53035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453128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issues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14877" y="4453128"/>
            <a:ext cx="350032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package-lock.json / Docker configuration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7818120" y="1417320"/>
            <a:ext cx="3840480" cy="4096512"/>
          </a:xfrm>
          <a:prstGeom prst="roundRect">
            <a:avLst>
              <a:gd name="adj" fmla="val 2381"/>
            </a:avLst>
          </a:prstGeom>
          <a:solidFill>
            <a:srgbClr val="111C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0" y="196596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 Brief demonstrates how Software Engineering and Software Project Management principles can be applied to build an agentic AI software system — from iterative process design through architecture, module decomposition, and risk planning.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4023360"/>
            <a:ext cx="3291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4206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818120" y="4800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2026-09-09T05:02:33Z</dcterms:created>
  <dcterms:modified xsi:type="dcterms:W3CDTF">2026-09-09T05:02:33Z</dcterms:modified>
</cp:coreProperties>
</file>